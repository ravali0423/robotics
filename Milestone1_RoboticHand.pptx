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72200"/>
            <a:ext cx="12188952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MILESTONE 1  —  SPRING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</a:rPr>
              <a:t>ROS2 Robotic Hand
Simulation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520440"/>
            <a:ext cx="5486400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65760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CCE0"/>
                </a:solidFill>
              </a:rPr>
              <a:t>A fully containerised dual-hand robotic simulation built on ROS2 Jazzy. Two anatomically mirrored hands respond in real time to a single ROS2 topic, split automatically between left and right. Running headlessly inside Docker on Apple Silicon with a VNC-based GUI pipeline.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486400"/>
            <a:ext cx="1783080" cy="411480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5486400"/>
            <a:ext cx="1783080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553212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8FF"/>
                </a:solidFill>
              </a:rPr>
              <a:t>ROS2 Jazzy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41448" y="5486400"/>
            <a:ext cx="1783080" cy="411480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41448" y="5486400"/>
            <a:ext cx="1783080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4600" y="553212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6B6B"/>
                </a:solidFill>
              </a:rPr>
              <a:t>Docker amd64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5486400"/>
            <a:ext cx="1783080" cy="411480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9976" y="5486400"/>
            <a:ext cx="1783080" cy="36576"/>
          </a:xfrm>
          <a:prstGeom prst="rect">
            <a:avLst/>
          </a:prstGeom>
          <a:solidFill>
            <a:srgbClr val="7B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3128" y="553212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BE88F"/>
                </a:solidFill>
              </a:rPr>
              <a:t>URDF/Xacro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18504" y="5486400"/>
            <a:ext cx="1783080" cy="411480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18504" y="5486400"/>
            <a:ext cx="178308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6" y="553212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700"/>
                </a:solidFill>
              </a:rPr>
              <a:t>RViz2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57032" y="5486400"/>
            <a:ext cx="1783080" cy="411480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57032" y="5486400"/>
            <a:ext cx="1783080" cy="36576"/>
          </a:xfrm>
          <a:prstGeom prst="rect">
            <a:avLst/>
          </a:prstGeom>
          <a:solidFill>
            <a:srgbClr val="B8C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4" y="553212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8CCE0"/>
                </a:solidFill>
              </a:rPr>
              <a:t>Python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889A"/>
                </a:solidFill>
              </a:rPr>
              <a:t>Team Robotics  ·  ROS2 Jazzy  ·  Ubuntu 24.04 in Docker  ·  Apple Silicon Mac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88952" cy="274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583680"/>
            <a:ext cx="1188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8889A"/>
                </a:solidFill>
              </a:rPr>
              <a:t>ROS2 Robotic Hand Simulation  ·  Milestone 1  ·  Spring 2025  ·  Team Robotics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88952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Problem Statement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CCE0"/>
                </a:solidFill>
              </a:rPr>
              <a:t>Why build a robotic hand simulation and what challenges did we solve?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7315200" cy="2377440"/>
          </a:xfrm>
          <a:prstGeom prst="rect">
            <a:avLst/>
          </a:prstGeom>
          <a:solidFill>
            <a:srgbClr val="1A1A38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7315200" cy="5029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53312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6B"/>
                </a:solidFill>
              </a:rPr>
              <a:t>The Challenge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847088"/>
            <a:ext cx="109728" cy="10972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19656"/>
            <a:ext cx="6766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Robotic hand simulation typically requires expensive hardware or complex motion-planning frameworks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267712"/>
            <a:ext cx="109728" cy="10972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240280"/>
            <a:ext cx="6766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Running ROS2 GUI apps (RViz2) on Apple Silicon Mac has no native support — amd64 Docker images cannot use the host display due to GLX/OpenGL incompatibility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2688336"/>
            <a:ext cx="109728" cy="10972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660904"/>
            <a:ext cx="6766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Existing URDF hand models use simple box geometry — unrealistic appearance makes it hard to demo or present to stakeholders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3108960"/>
            <a:ext cx="109728" cy="10972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081528"/>
            <a:ext cx="6766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Controlling two hands from one input requires a coordination layer that splits intent intelligently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49039"/>
            <a:ext cx="7315200" cy="2697480"/>
          </a:xfrm>
          <a:prstGeom prst="rect">
            <a:avLst/>
          </a:prstGeom>
          <a:solidFill>
            <a:srgbClr val="1A1A38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749039"/>
            <a:ext cx="7315200" cy="50292"/>
          </a:xfrm>
          <a:prstGeom prst="rect">
            <a:avLst/>
          </a:prstGeom>
          <a:solidFill>
            <a:srgbClr val="7B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58768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E88F"/>
                </a:solidFill>
              </a:rPr>
              <a:t>Our Motivation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" y="4315968"/>
            <a:ext cx="109728" cy="109728"/>
          </a:xfrm>
          <a:prstGeom prst="rect">
            <a:avLst/>
          </a:prstGeom>
          <a:solidFill>
            <a:srgbClr val="7B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288536"/>
            <a:ext cx="6766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Demonstrate expressive robot communication (counting, gestures, sign language) using low-cost simulation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" y="4736592"/>
            <a:ext cx="109728" cy="109728"/>
          </a:xfrm>
          <a:prstGeom prst="rect">
            <a:avLst/>
          </a:prstGeom>
          <a:solidFill>
            <a:srgbClr val="7B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709160"/>
            <a:ext cx="6766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Establish a reusable ROS2 platform for future vision-based gesture recognition integration (Milestone 2)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" y="5157216"/>
            <a:ext cx="109728" cy="109728"/>
          </a:xfrm>
          <a:prstGeom prst="rect">
            <a:avLst/>
          </a:prstGeom>
          <a:solidFill>
            <a:srgbClr val="7B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5129784"/>
            <a:ext cx="6766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Prove that Apple Silicon developers can run full ROS2 GUI stacks in Docker without any host X11 setup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" y="5577840"/>
            <a:ext cx="109728" cy="109728"/>
          </a:xfrm>
          <a:prstGeom prst="rect">
            <a:avLst/>
          </a:prstGeom>
          <a:solidFill>
            <a:srgbClr val="7B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5550408"/>
            <a:ext cx="6766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Build foundation for ASL alphabet demonstration and voice-controlled robot interaction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09560" y="1234440"/>
            <a:ext cx="3931920" cy="5212080"/>
          </a:xfrm>
          <a:prstGeom prst="rect">
            <a:avLst/>
          </a:prstGeom>
          <a:solidFill>
            <a:srgbClr val="121F3D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9560" y="1234440"/>
            <a:ext cx="3931920" cy="5029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65008" y="135331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Project at a Glance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01000" y="1847088"/>
            <a:ext cx="3749039" cy="749808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92440" y="1874519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8FF"/>
                </a:solidFill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1901952"/>
            <a:ext cx="2697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CCE0"/>
                </a:solidFill>
              </a:rPr>
              <a:t>finger states
(0–10 via 1 topic)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01000" y="2724912"/>
            <a:ext cx="3749039" cy="749808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92440" y="2752344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8FF"/>
                </a:solidFill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2779776"/>
            <a:ext cx="2697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CCE0"/>
                </a:solidFill>
              </a:rPr>
              <a:t>anatomically
mirrored hands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01000" y="3602736"/>
            <a:ext cx="3749039" cy="749808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92440" y="3630168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8FF"/>
                </a:solidFill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15400" y="3657600"/>
            <a:ext cx="2697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CCE0"/>
                </a:solidFill>
              </a:rPr>
              <a:t>ROS2 nodes
in the pipeline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01000" y="4480560"/>
            <a:ext cx="3749039" cy="749808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92440" y="4507992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8FF"/>
                </a:solidFill>
              </a:rPr>
              <a:t>8×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15400" y="4535424"/>
            <a:ext cx="2697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CCE0"/>
                </a:solidFill>
              </a:rPr>
              <a:t>faster animation
vs. original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01000" y="5358383"/>
            <a:ext cx="3749039" cy="749808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92440" y="5385816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8FF"/>
                </a:solidFill>
              </a:rPr>
              <a:t>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15400" y="5413247"/>
            <a:ext cx="2697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CCE0"/>
                </a:solidFill>
              </a:rPr>
              <a:t>host X11 setup
required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6565392"/>
            <a:ext cx="12188952" cy="274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583680"/>
            <a:ext cx="1188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8889A"/>
                </a:solidFill>
              </a:rPr>
              <a:t>ROS2 Robotic Hand Simulation  ·  Milestone 1  ·  Spring 2025  ·  Team Robotics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88952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CCE0"/>
                </a:solidFill>
              </a:rPr>
              <a:t>End-to-end data flow from user command to 3D visualization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11567160" cy="658368"/>
          </a:xfrm>
          <a:prstGeom prst="rect">
            <a:avLst/>
          </a:prstGeom>
          <a:solidFill>
            <a:srgbClr val="121F3D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35024"/>
            <a:ext cx="11155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</a:rPr>
              <a:t>▶  User publishes:  ros2 topic pub /finger_count std_msgs/msg/Int32 "{data: 8}"  --once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1993392"/>
            <a:ext cx="1828800" cy="822960"/>
          </a:xfrm>
          <a:prstGeom prst="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" y="1993392"/>
            <a:ext cx="18288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2048256"/>
            <a:ext cx="17190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8FF"/>
                </a:solidFill>
              </a:rPr>
              <a:t>/finger_count
Int32  (0–10)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76272" y="2084831"/>
            <a:ext cx="5120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8889A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88336" y="1993392"/>
            <a:ext cx="1828800" cy="822960"/>
          </a:xfrm>
          <a:prstGeom prst="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88336" y="1993392"/>
            <a:ext cx="182880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1488" y="2048256"/>
            <a:ext cx="17190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6B6B"/>
                </a:solidFill>
              </a:rPr>
              <a:t>dual_hand
coordinator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084831"/>
            <a:ext cx="5120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8889A"/>
                </a:solidFill>
              </a:rPr>
              <a:t>→
/left &amp; /right
finger_count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1993392"/>
            <a:ext cx="1828800" cy="822960"/>
          </a:xfrm>
          <a:prstGeom prst="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1993392"/>
            <a:ext cx="1828800" cy="54864"/>
          </a:xfrm>
          <a:prstGeom prst="rect">
            <a:avLst/>
          </a:prstGeom>
          <a:solidFill>
            <a:srgbClr val="7B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02352" y="2048256"/>
            <a:ext cx="17190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BE88F"/>
                </a:solidFill>
              </a:rPr>
              <a:t>left_hand
controller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084831"/>
            <a:ext cx="5120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8889A"/>
                </a:solidFill>
              </a:rPr>
              <a:t>→
/joint_states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70064" y="1993392"/>
            <a:ext cx="1828800" cy="822960"/>
          </a:xfrm>
          <a:prstGeom prst="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70064" y="1993392"/>
            <a:ext cx="18288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43216" y="2048256"/>
            <a:ext cx="17190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8FF"/>
                </a:solidFill>
              </a:rPr>
              <a:t>robot_state
publisher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8864" y="2084831"/>
            <a:ext cx="5120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8889A"/>
                </a:solidFill>
              </a:rPr>
              <a:t>→
/robot_description
/joint_states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10928" y="1993392"/>
            <a:ext cx="1828800" cy="822960"/>
          </a:xfrm>
          <a:prstGeom prst="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10928" y="1993392"/>
            <a:ext cx="18288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2048256"/>
            <a:ext cx="17190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700"/>
                </a:solidFill>
              </a:rPr>
              <a:t>RViz2
3D 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292608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8889A"/>
                </a:solidFill>
              </a:rPr>
              <a:t>right_hand_controller → /joint_states  (same path, mirror=−1)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310128"/>
            <a:ext cx="3840480" cy="3401568"/>
          </a:xfrm>
          <a:prstGeom prst="rect">
            <a:avLst/>
          </a:prstGeom>
          <a:solidFill>
            <a:srgbClr val="1A1A38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3310128"/>
            <a:ext cx="3840480" cy="5029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" y="3474720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</a:rPr>
              <a:t>Docker Container
(linux/amd64)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4632" y="3922776"/>
            <a:ext cx="128016" cy="12801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" y="3877056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Base: osrf/ros:jazzy-desktop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4632" y="4325112"/>
            <a:ext cx="128016" cy="12801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4279392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Installed: rviz2, xacro, robot-state-publisher, joint-state-publisher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4632" y="4727448"/>
            <a:ext cx="128016" cy="12801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" y="4681728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Xvfb :1 — virtual framebuffer 1280×800×24 bpp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4632" y="5129784"/>
            <a:ext cx="128016" cy="12801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" y="5084064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x11vnc on port 5900 — no-password VNC server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4632" y="5532120"/>
            <a:ext cx="128016" cy="12801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" y="5486400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Openbox window manager for GUI app placement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4632" y="5934456"/>
            <a:ext cx="128016" cy="12801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088" y="5888736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colcon build --symlink-install at image build time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4632" y="6336792"/>
            <a:ext cx="128016" cy="12801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4088" y="6291072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DISPLAY=:1 set for all ROS2 GUI processes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79392" y="3310128"/>
            <a:ext cx="3840480" cy="3401568"/>
          </a:xfrm>
          <a:prstGeom prst="rect">
            <a:avLst/>
          </a:prstGeom>
          <a:solidFill>
            <a:srgbClr val="1A1A38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79392" y="3310128"/>
            <a:ext cx="3840480" cy="5029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43983" y="3474720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6B"/>
                </a:solidFill>
              </a:rPr>
              <a:t>ROS2 Node Details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443983" y="3922776"/>
            <a:ext cx="128016" cy="12801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63440" y="3877056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dual_hand_coordinator.py — subscribes /finger_count, publishes /left/ and /right/finger_count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443983" y="4325112"/>
            <a:ext cx="128016" cy="12801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63440" y="4279392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enhanced_hand_controller.py — param: hand_side ('left'|'right'), timer @ 50 Hz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443983" y="4727448"/>
            <a:ext cx="128016" cy="12801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63440" y="4681728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robot_state_publisher — consumes URDF xacro + /joint_states, publishes /tf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443983" y="5129784"/>
            <a:ext cx="128016" cy="12801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63440" y="5084064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Joint interpolation: current += clamp(target−current, −speed, +speed) per tick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443983" y="5532120"/>
            <a:ext cx="128016" cy="12801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63440" y="5486400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All 10 joints per hand: base + proximal + middle per finger, base + proximal for thumb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443983" y="5934456"/>
            <a:ext cx="128016" cy="12801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63440" y="5888736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Gesture map: hello, peace, ok, point, three, neutral — via /gesture_command topic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38744" y="3310128"/>
            <a:ext cx="3840480" cy="3401568"/>
          </a:xfrm>
          <a:prstGeom prst="rect">
            <a:avLst/>
          </a:prstGeom>
          <a:solidFill>
            <a:srgbClr val="1A1A38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238744" y="3310128"/>
            <a:ext cx="3840480" cy="50292"/>
          </a:xfrm>
          <a:prstGeom prst="rect">
            <a:avLst/>
          </a:prstGeom>
          <a:solidFill>
            <a:srgbClr val="7B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03336" y="3474720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BE88F"/>
                </a:solidFill>
              </a:rPr>
              <a:t>URDF / Xacro Design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403336" y="3922776"/>
            <a:ext cx="128016" cy="128016"/>
          </a:xfrm>
          <a:prstGeom prst="rect">
            <a:avLst/>
          </a:prstGeom>
          <a:solidFill>
            <a:srgbClr val="7B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22792" y="3877056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dual_robotic_hands.urdf.xacro — single file, two hand_assembly macros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403336" y="4325112"/>
            <a:ext cx="128016" cy="128016"/>
          </a:xfrm>
          <a:prstGeom prst="rect">
            <a:avLst/>
          </a:prstGeom>
          <a:solidFill>
            <a:srgbClr val="7B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622792" y="4279392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hand_assembly macro params: side, y_offset, mirror (1 or −1)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403336" y="4727448"/>
            <a:ext cx="128016" cy="128016"/>
          </a:xfrm>
          <a:prstGeom prst="rect">
            <a:avLst/>
          </a:prstGeom>
          <a:solidFill>
            <a:srgbClr val="7B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622792" y="4681728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finger macro: x/y/z pos, rotation offset, axis_z for anatomical mirroring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403336" y="5129784"/>
            <a:ext cx="128016" cy="128016"/>
          </a:xfrm>
          <a:prstGeom prst="rect">
            <a:avLst/>
          </a:prstGeom>
          <a:solidFill>
            <a:srgbClr val="7B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622792" y="5084064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thumb macro: wider base radius, 2-phalanx structure, angled placement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403336" y="5532120"/>
            <a:ext cx="128016" cy="128016"/>
          </a:xfrm>
          <a:prstGeom prst="rect">
            <a:avLst/>
          </a:prstGeom>
          <a:solidFill>
            <a:srgbClr val="7B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622792" y="5486400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Separate nail links (fixed joints) — forces RViz2 independent colour rendering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403336" y="5934456"/>
            <a:ext cx="128016" cy="128016"/>
          </a:xfrm>
          <a:prstGeom prst="rect">
            <a:avLst/>
          </a:prstGeom>
          <a:solidFill>
            <a:srgbClr val="7B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622792" y="5888736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Materials: skin_palm, skin_finger, skin_knuckle, skin_tip, skin_nail (light pink)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0" y="6565392"/>
            <a:ext cx="12188952" cy="274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74320" y="6583680"/>
            <a:ext cx="1188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8889A"/>
                </a:solidFill>
              </a:rPr>
              <a:t>ROS2 Robotic Hand Simulation  ·  Milestone 1  ·  Spring 2025  ·  Team Robotics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88952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Implementation Deep-Dive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CCE0"/>
                </a:solidFill>
              </a:rPr>
              <a:t>Key engineering decisions, code design, and how problems were solved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07008"/>
            <a:ext cx="5623560" cy="5349240"/>
          </a:xfrm>
          <a:prstGeom prst="rect">
            <a:avLst/>
          </a:prstGeom>
          <a:solidFill>
            <a:srgbClr val="1A1A38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07008"/>
            <a:ext cx="562356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316736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</a:rPr>
              <a:t>URDF Anatomy &amp; Geometry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828800"/>
            <a:ext cx="1170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</a:rPr>
              <a:t>Palm: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82880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Box 120×90×18 mm + wrist cylinder r=34 mm. Acts as root link.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286000"/>
            <a:ext cx="1170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</a:rPr>
              <a:t>Proximal: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4208" y="228600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Cylinder r=6.8 mm, L=38 mm along X-axis (rpy='0 1.5708 0').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743200"/>
            <a:ext cx="1170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</a:rPr>
              <a:t>Middle: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8" y="274320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Cylinder r=6.2 mm, L=28 mm. Knuckle sphere at base (r=5.6 mm).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3200400"/>
            <a:ext cx="1170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</a:rPr>
              <a:t>Distal: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" y="320040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Cylinder r=5.5 mm, L=22 mm + rounded tip sphere r=5.3 mm.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3657600"/>
            <a:ext cx="1170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</a:rPr>
              <a:t>Nail: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4208" y="365760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Fixed-joint child link: flat box 16×10×3 mm, skin_nail material.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4114800"/>
            <a:ext cx="1170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</a:rPr>
              <a:t>Thumb: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411480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2-phalanx only. Wider radius (r₁=8 mm), angled base placement.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4572000"/>
            <a:ext cx="1170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</a:rPr>
              <a:t>Mirroring: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4208" y="457200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mirror=1 (left) or −1 (right) flips all Y-positions and axis_z.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5029200"/>
            <a:ext cx="1170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</a:rPr>
              <a:t>Axis_z: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4208" y="502920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Left: axis_z=1, Right: axis_z=−1 → abduction mirrors correctly.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5486400"/>
            <a:ext cx="1170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</a:rPr>
              <a:t>Joints: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4208" y="548640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Revolute limits: −1.57 to +1.57 rad. Effort=10 N·m, vel=1 rad/s.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" y="5943600"/>
            <a:ext cx="1170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</a:rPr>
              <a:t>Materials: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64208" y="594360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5 named materials; skin_nail = rgba(1.0, 0.75, 0.80, 1.0) pink.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36208" y="1207008"/>
            <a:ext cx="5623560" cy="2468880"/>
          </a:xfrm>
          <a:prstGeom prst="rect">
            <a:avLst/>
          </a:prstGeom>
          <a:solidFill>
            <a:srgbClr val="1A1A38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36208" y="1207008"/>
            <a:ext cx="5623560" cy="54864"/>
          </a:xfrm>
          <a:prstGeom prst="rect">
            <a:avLst/>
          </a:prstGeom>
          <a:solidFill>
            <a:srgbClr val="7B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1316736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E88F"/>
                </a:solidFill>
              </a:rPr>
              <a:t>enhanced_hand_controller.py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82512" y="1828800"/>
            <a:ext cx="91440" cy="91440"/>
          </a:xfrm>
          <a:prstGeom prst="rect">
            <a:avLst/>
          </a:prstGeom>
          <a:solidFill>
            <a:srgbClr val="7B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65392" y="1801368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Declares ROS2 param hand_side ('left' | 'right' | '') — backward-compatible with single-hand launch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82512" y="2157984"/>
            <a:ext cx="91440" cy="91440"/>
          </a:xfrm>
          <a:prstGeom prst="rect">
            <a:avLst/>
          </a:prstGeom>
          <a:solidFill>
            <a:srgbClr val="7B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65392" y="2130552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Prefix all joint names: left_thumb_base_joint, right_index_proximal_joint, etc.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82512" y="2487168"/>
            <a:ext cx="91440" cy="91440"/>
          </a:xfrm>
          <a:prstGeom prst="rect">
            <a:avLst/>
          </a:prstGeom>
          <a:solidFill>
            <a:srgbClr val="7B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65392" y="2459736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Subscribes /{side}/finger_count (Int32) and /{side}/gesture_command (String)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82512" y="2816352"/>
            <a:ext cx="91440" cy="91440"/>
          </a:xfrm>
          <a:prstGeom prst="rect">
            <a:avLst/>
          </a:prstGeom>
          <a:solidFill>
            <a:srgbClr val="7B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65392" y="2788920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Timer callback @ 50 Hz: interpolates current_positions → target_positions at speed 0.4 rad/step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82512" y="3145536"/>
            <a:ext cx="91440" cy="91440"/>
          </a:xfrm>
          <a:prstGeom prst="rect">
            <a:avLst/>
          </a:prstGeom>
          <a:solidFill>
            <a:srgbClr val="7B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65392" y="3118104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Clamp per-joint: current += max(−0.4, min(0.4, target−current)) each tick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82512" y="3474720"/>
            <a:ext cx="91440" cy="91440"/>
          </a:xfrm>
          <a:prstGeom prst="rect">
            <a:avLst/>
          </a:prstGeom>
          <a:solidFill>
            <a:srgbClr val="7B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65392" y="3447287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Publishes sensor_msgs/JointState to /joint_states for robot_state_publisher consumption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36208" y="3794760"/>
            <a:ext cx="5623560" cy="1463040"/>
          </a:xfrm>
          <a:prstGeom prst="rect">
            <a:avLst/>
          </a:prstGeom>
          <a:solidFill>
            <a:srgbClr val="1A1A38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36208" y="3794760"/>
            <a:ext cx="562356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389534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</a:rPr>
              <a:t>dual_hand_coordinator.py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82512" y="4334256"/>
            <a:ext cx="91440" cy="91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65392" y="4306824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Subscribes /finger_count (0–10), splits: left = min(n, 5),  right = max(0, n−5)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82512" y="4645152"/>
            <a:ext cx="91440" cy="91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65392" y="4617720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Example: data=8 → left=5 (all fingers), right=3 (three fingers)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82512" y="4956048"/>
            <a:ext cx="91440" cy="91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65392" y="4928616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Also passes through /gesture_command to both /left/ and /right/ namespaces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82512" y="5266944"/>
            <a:ext cx="91440" cy="91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65392" y="5239512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Fully stateless — no memory of previous commands needed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36208" y="5367528"/>
            <a:ext cx="5623560" cy="1188720"/>
          </a:xfrm>
          <a:prstGeom prst="rect">
            <a:avLst/>
          </a:prstGeom>
          <a:solidFill>
            <a:srgbClr val="1A1A38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236208" y="5367528"/>
            <a:ext cx="562356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0" y="54681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</a:rPr>
              <a:t>Critical Build Fixes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82512" y="5888736"/>
            <a:ext cx="73152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7960" y="5861304"/>
            <a:ext cx="5166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rosdep --skip-keys 'python3-pyaudio python3-speechrecognition' — not needed for sim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82512" y="6144768"/>
            <a:ext cx="73152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37960" y="6117336"/>
            <a:ext cx="5166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RUN chmod +x src/arm_simulation/scripts/*.py before colcon — fixes execute permissions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82512" y="6400800"/>
            <a:ext cx="73152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37960" y="6373368"/>
            <a:ext cx="5166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Single-quote inside bash -c double-quote for skip-keys arg — prevented silent build fail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0" y="6565392"/>
            <a:ext cx="12188952" cy="274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4320" y="6583680"/>
            <a:ext cx="1188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8889A"/>
                </a:solidFill>
              </a:rPr>
              <a:t>ROS2 Robotic Hand Simulation  ·  Milestone 1  ·  Spring 2025  ·  Team Robotics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88952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Results, Demo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CCE0"/>
                </a:solidFill>
              </a:rPr>
              <a:t>What was achieved in Milestone 1 and what comes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07008"/>
            <a:ext cx="3794760" cy="5349240"/>
          </a:xfrm>
          <a:prstGeom prst="rect">
            <a:avLst/>
          </a:prstGeom>
          <a:solidFill>
            <a:srgbClr val="1A1A38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07008"/>
            <a:ext cx="3794760" cy="54864"/>
          </a:xfrm>
          <a:prstGeom prst="rect">
            <a:avLst/>
          </a:prstGeom>
          <a:solidFill>
            <a:srgbClr val="7B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316736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E88F"/>
                </a:solidFill>
              </a:rPr>
              <a:t>✅  Milestone 1 Achievements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1828800"/>
            <a:ext cx="128016" cy="128016"/>
          </a:xfrm>
          <a:prstGeom prst="rect">
            <a:avLst/>
          </a:prstGeom>
          <a:solidFill>
            <a:srgbClr val="7B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180136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Dual hands render in RViz2 inside Docker on Apple Silicon Mac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212848"/>
            <a:ext cx="128016" cy="128016"/>
          </a:xfrm>
          <a:prstGeom prst="rect">
            <a:avLst/>
          </a:prstGeom>
          <a:solidFill>
            <a:srgbClr val="7B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18541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Single /finger_count topic (0–10) drives both hands simultaneously via coordinator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596896"/>
            <a:ext cx="128016" cy="128016"/>
          </a:xfrm>
          <a:prstGeom prst="rect">
            <a:avLst/>
          </a:prstGeom>
          <a:solidFill>
            <a:srgbClr val="7B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256946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Anatomically mirrored hands: left thumb left, right thumb right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2980944"/>
            <a:ext cx="128016" cy="128016"/>
          </a:xfrm>
          <a:prstGeom prst="rect">
            <a:avLst/>
          </a:prstGeom>
          <a:solidFill>
            <a:srgbClr val="7B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295351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Realistic geometry: cylinders + spheres, tapered finger radii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" y="3364991"/>
            <a:ext cx="128016" cy="128016"/>
          </a:xfrm>
          <a:prstGeom prst="rect">
            <a:avLst/>
          </a:prstGeom>
          <a:solidFill>
            <a:srgbClr val="7B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33375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Knuckle spheres at every joint — visible depth and curvature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" y="3749039"/>
            <a:ext cx="128016" cy="128016"/>
          </a:xfrm>
          <a:prstGeom prst="rect">
            <a:avLst/>
          </a:prstGeom>
          <a:solidFill>
            <a:srgbClr val="7B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372160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Light-pink nail polish via separate fixed-joint nail links (RViz2 colour hack)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" y="4133087"/>
            <a:ext cx="128016" cy="128016"/>
          </a:xfrm>
          <a:prstGeom prst="rect">
            <a:avLst/>
          </a:prstGeom>
          <a:solidFill>
            <a:srgbClr val="7B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410565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8× faster animation: transition_speed 0.05 → 0.4 rad/step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" y="4517136"/>
            <a:ext cx="128016" cy="128016"/>
          </a:xfrm>
          <a:prstGeom prst="rect">
            <a:avLst/>
          </a:prstGeom>
          <a:solidFill>
            <a:srgbClr val="7B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448970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Full VNC GUI pipeline: zero host X11 config required on Mac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" y="4901183"/>
            <a:ext cx="128016" cy="128016"/>
          </a:xfrm>
          <a:prstGeom prst="rect">
            <a:avLst/>
          </a:prstGeom>
          <a:solidFill>
            <a:srgbClr val="7B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48737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Gesture commands: hello, peace, ok, point, three, neutral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" y="5285231"/>
            <a:ext cx="128016" cy="128016"/>
          </a:xfrm>
          <a:prstGeom prst="rect">
            <a:avLst/>
          </a:prstGeom>
          <a:solidFill>
            <a:srgbClr val="7B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525780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Independent per-hand control via /left/ and /right/ namespaces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" y="5669280"/>
            <a:ext cx="128016" cy="128016"/>
          </a:xfrm>
          <a:prstGeom prst="rect">
            <a:avLst/>
          </a:prstGeom>
          <a:solidFill>
            <a:srgbClr val="7B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" y="564184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ASL letter scaffolding ready via /letter_command topic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" y="6053328"/>
            <a:ext cx="128016" cy="128016"/>
          </a:xfrm>
          <a:prstGeom prst="rect">
            <a:avLst/>
          </a:prstGeom>
          <a:solidFill>
            <a:srgbClr val="7B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" y="602589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Docker image builds clean in &lt; 3 min on M-series Mac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1207008"/>
            <a:ext cx="3794760" cy="5349240"/>
          </a:xfrm>
          <a:prstGeom prst="rect">
            <a:avLst/>
          </a:prstGeom>
          <a:solidFill>
            <a:srgbClr val="1A1A38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43400" y="1207008"/>
            <a:ext cx="379476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98848" y="1316736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🖥️  Live Demo Steps</a:t>
            </a:r>
          </a:p>
        </p:txBody>
      </p:sp>
      <p:sp>
        <p:nvSpPr>
          <p:cNvPr id="36" name="Oval 35"/>
          <p:cNvSpPr/>
          <p:nvPr/>
        </p:nvSpPr>
        <p:spPr>
          <a:xfrm>
            <a:off x="4480560" y="1828800"/>
            <a:ext cx="274320" cy="27432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80560" y="181051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0F23"/>
                </a:solidFill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0" y="1828800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C8FF"/>
                </a:solidFill>
              </a:rPr>
              <a:t>Build image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0" y="2066543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8CCE0"/>
                </a:solidFill>
              </a:rPr>
              <a:t>docker build -t arm-sim .</a:t>
            </a:r>
          </a:p>
        </p:txBody>
      </p:sp>
      <p:sp>
        <p:nvSpPr>
          <p:cNvPr id="40" name="Oval 39"/>
          <p:cNvSpPr/>
          <p:nvPr/>
        </p:nvSpPr>
        <p:spPr>
          <a:xfrm>
            <a:off x="4480560" y="2423160"/>
            <a:ext cx="274320" cy="27432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80560" y="240487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0F23"/>
                </a:solidFill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2423160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C8FF"/>
                </a:solidFill>
              </a:rPr>
              <a:t>Run container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2660904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8CCE0"/>
                </a:solidFill>
              </a:rPr>
              <a:t>docker run -it --name arm-sim\
  -p 5900:5900 arm-sim</a:t>
            </a:r>
          </a:p>
        </p:txBody>
      </p:sp>
      <p:sp>
        <p:nvSpPr>
          <p:cNvPr id="44" name="Oval 43"/>
          <p:cNvSpPr/>
          <p:nvPr/>
        </p:nvSpPr>
        <p:spPr>
          <a:xfrm>
            <a:off x="4480560" y="3017520"/>
            <a:ext cx="274320" cy="27432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80560" y="299923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0F23"/>
                </a:solidFill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46320" y="3017520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C8FF"/>
                </a:solidFill>
              </a:rPr>
              <a:t>Connect VNC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6320" y="3255263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8CCE0"/>
                </a:solidFill>
              </a:rPr>
              <a:t>Open RealVNC Viewer → 127.0.0.1:5900</a:t>
            </a:r>
          </a:p>
        </p:txBody>
      </p:sp>
      <p:sp>
        <p:nvSpPr>
          <p:cNvPr id="48" name="Oval 47"/>
          <p:cNvSpPr/>
          <p:nvPr/>
        </p:nvSpPr>
        <p:spPr>
          <a:xfrm>
            <a:off x="4480560" y="3611880"/>
            <a:ext cx="274320" cy="27432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80560" y="359359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0F23"/>
                </a:solidFill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46320" y="3611880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C8FF"/>
                </a:solidFill>
              </a:rPr>
              <a:t>Launch sim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46320" y="3849624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8CCE0"/>
                </a:solidFill>
              </a:rPr>
              <a:t>ros2 launch arm_simulation
  dual_hands.launch.py</a:t>
            </a:r>
          </a:p>
        </p:txBody>
      </p:sp>
      <p:sp>
        <p:nvSpPr>
          <p:cNvPr id="52" name="Oval 51"/>
          <p:cNvSpPr/>
          <p:nvPr/>
        </p:nvSpPr>
        <p:spPr>
          <a:xfrm>
            <a:off x="4480560" y="4206240"/>
            <a:ext cx="274320" cy="27432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80560" y="418795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0F23"/>
                </a:solidFill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46320" y="4206240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C8FF"/>
                </a:solidFill>
              </a:rPr>
              <a:t>Show 8 fingers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46320" y="4443983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8CCE0"/>
                </a:solidFill>
              </a:rPr>
              <a:t>ros2 topic pub /finger_count
  std_msgs/msg/Int32
  "{data: 8}" --once</a:t>
            </a:r>
          </a:p>
        </p:txBody>
      </p:sp>
      <p:sp>
        <p:nvSpPr>
          <p:cNvPr id="56" name="Oval 55"/>
          <p:cNvSpPr/>
          <p:nvPr/>
        </p:nvSpPr>
        <p:spPr>
          <a:xfrm>
            <a:off x="4480560" y="4800600"/>
            <a:ext cx="274320" cy="27432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80560" y="478231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0F23"/>
                </a:solidFill>
              </a:rPr>
              <a:t>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46320" y="4800600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C8FF"/>
                </a:solidFill>
              </a:rPr>
              <a:t>Fist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46320" y="5038344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8CCE0"/>
                </a:solidFill>
              </a:rPr>
              <a:t>ros2 topic pub /finger_count
  std_msgs/msg/Int32
  "{data: 0}" --once</a:t>
            </a:r>
          </a:p>
        </p:txBody>
      </p:sp>
      <p:sp>
        <p:nvSpPr>
          <p:cNvPr id="60" name="Oval 59"/>
          <p:cNvSpPr/>
          <p:nvPr/>
        </p:nvSpPr>
        <p:spPr>
          <a:xfrm>
            <a:off x="4480560" y="5394960"/>
            <a:ext cx="274320" cy="27432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480560" y="537667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0F23"/>
                </a:solidFill>
              </a:rPr>
              <a:t>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46320" y="5394960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C8FF"/>
                </a:solidFill>
              </a:rPr>
              <a:t>Open hand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46320" y="5632704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8CCE0"/>
                </a:solidFill>
              </a:rPr>
              <a:t>ros2 topic pub /finger_count
  std_msgs/msg/Int32
  "{data: 10}" --once</a:t>
            </a:r>
          </a:p>
        </p:txBody>
      </p:sp>
      <p:sp>
        <p:nvSpPr>
          <p:cNvPr id="64" name="Oval 63"/>
          <p:cNvSpPr/>
          <p:nvPr/>
        </p:nvSpPr>
        <p:spPr>
          <a:xfrm>
            <a:off x="4480560" y="5989320"/>
            <a:ext cx="274320" cy="27432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480560" y="597103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0F23"/>
                </a:solidFill>
              </a:rPr>
              <a:t>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46320" y="5989320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C8FF"/>
                </a:solidFill>
              </a:rPr>
              <a:t>Hello gesture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46320" y="6227064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8CCE0"/>
                </a:solidFill>
              </a:rPr>
              <a:t>ros2 topic pub /gesture_command
  std_msgs/msg/String
  "{data: hello}" --once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366760" y="1207008"/>
            <a:ext cx="3493008" cy="5349240"/>
          </a:xfrm>
          <a:prstGeom prst="rect">
            <a:avLst/>
          </a:prstGeom>
          <a:solidFill>
            <a:srgbClr val="1A1A38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366760" y="1207008"/>
            <a:ext cx="3493008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522208" y="1316736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</a:rPr>
              <a:t>🚀  Milestone 2 Roadmap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485632" y="1828800"/>
            <a:ext cx="384048" cy="23774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485632" y="1810512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0F23"/>
                </a:solidFill>
              </a:rPr>
              <a:t>M2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42832" y="1828800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6B"/>
                </a:solidFill>
              </a:rPr>
              <a:t>Computer Vision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85632" y="2103120"/>
            <a:ext cx="3246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CCE0"/>
                </a:solidFill>
              </a:rPr>
              <a:t>MediaPipe hand-landmark detection from webcam → auto-publish /finger_count in real time without manual topic commands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485632" y="2761488"/>
            <a:ext cx="384048" cy="23774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485632" y="2743200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0F23"/>
                </a:solidFill>
              </a:rPr>
              <a:t>M2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42832" y="2761488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6B"/>
                </a:solidFill>
              </a:rPr>
              <a:t>ASL Full Alphabet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85632" y="3035808"/>
            <a:ext cx="3246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CCE0"/>
                </a:solidFill>
              </a:rPr>
              <a:t>26-letter ASL hand shapes triggered by /letter_command. Demonstrate spelling words letter-by-letter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485632" y="3694176"/>
            <a:ext cx="384048" cy="23774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485632" y="3675888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0F23"/>
                </a:solidFill>
              </a:rPr>
              <a:t>M2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42832" y="3694176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6B"/>
                </a:solidFill>
              </a:rPr>
              <a:t>Speech Control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85632" y="3968496"/>
            <a:ext cx="3246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CCE0"/>
                </a:solidFill>
              </a:rPr>
              <a:t>Re-enable pyaudio + SpeechRecognition. Say 'three' → hand shows 3 fingers. Voice-to-gesture pipeline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485632" y="4626864"/>
            <a:ext cx="384048" cy="237744"/>
          </a:xfrm>
          <a:prstGeom prst="rect">
            <a:avLst/>
          </a:prstGeom>
          <a:solidFill>
            <a:srgbClr val="7B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485632" y="4608576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0F23"/>
                </a:solidFill>
              </a:rPr>
              <a:t>M3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42832" y="4626864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E88F"/>
                </a:solidFill>
              </a:rPr>
              <a:t>UR5 Integration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485632" y="4901184"/>
            <a:ext cx="3246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CCE0"/>
                </a:solidFill>
              </a:rPr>
              <a:t>Mount robotic hand as end-effector on UR5 arm. Full pick-and-place manipulation with gesture feedback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485632" y="5559552"/>
            <a:ext cx="384048" cy="237744"/>
          </a:xfrm>
          <a:prstGeom prst="rect">
            <a:avLst/>
          </a:prstGeom>
          <a:solidFill>
            <a:srgbClr val="7B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485632" y="554126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0F23"/>
                </a:solidFill>
              </a:rPr>
              <a:t>M3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42832" y="5559552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E88F"/>
                </a:solidFill>
              </a:rPr>
              <a:t>Force Feedback Sim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485632" y="5833872"/>
            <a:ext cx="3246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CCE0"/>
                </a:solidFill>
              </a:rPr>
              <a:t>Simulated tactile sensors on fingertips. Detect virtual object contact, stop finger closure automatically</a:t>
            </a:r>
          </a:p>
        </p:txBody>
      </p:sp>
      <p:sp>
        <p:nvSpPr>
          <p:cNvPr id="91" name="Rectangle 9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0" y="6565392"/>
            <a:ext cx="12188952" cy="274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74320" y="6583680"/>
            <a:ext cx="1188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8889A"/>
                </a:solidFill>
              </a:rPr>
              <a:t>ROS2 Robotic Hand Simulation  ·  Milestone 1  ·  Spring 2025  ·  Team Robotics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